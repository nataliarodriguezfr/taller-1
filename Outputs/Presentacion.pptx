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eague Gothic" charset="1" panose="00000500000000000000"/>
      <p:regular r:id="rId14"/>
    </p:embeddedFont>
    <p:embeddedFont>
      <p:font typeface="Muli" charset="1" panose="00000500000000000000"/>
      <p:regular r:id="rId15"/>
    </p:embeddedFont>
    <p:embeddedFont>
      <p:font typeface="Muli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https://www.computerweekly.com/es/noticias/366537635/El-gran-impacto-de-internet-en-los-negocios-su-gestion-y-operacion"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terridata.dnp.gov.co/index-app.html#/descargas"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21368" b="-34532"/>
            </a:stretch>
          </a:blipFill>
        </p:spPr>
      </p:sp>
      <p:sp>
        <p:nvSpPr>
          <p:cNvPr name="TextBox 3" id="3"/>
          <p:cNvSpPr txBox="true"/>
          <p:nvPr/>
        </p:nvSpPr>
        <p:spPr>
          <a:xfrm rot="0">
            <a:off x="2314586" y="2281031"/>
            <a:ext cx="13658828" cy="2862469"/>
          </a:xfrm>
          <a:prstGeom prst="rect">
            <a:avLst/>
          </a:prstGeom>
        </p:spPr>
        <p:txBody>
          <a:bodyPr anchor="t" rtlCol="false" tIns="0" lIns="0" bIns="0" rIns="0">
            <a:spAutoFit/>
          </a:bodyPr>
          <a:lstStyle/>
          <a:p>
            <a:pPr algn="ctr">
              <a:lnSpc>
                <a:spcPts val="11249"/>
              </a:lnSpc>
            </a:pPr>
            <a:r>
              <a:rPr lang="en-US" sz="9782">
                <a:solidFill>
                  <a:srgbClr val="FFFFFF"/>
                </a:solidFill>
                <a:latin typeface="League Gothic"/>
                <a:ea typeface="League Gothic"/>
                <a:cs typeface="League Gothic"/>
                <a:sym typeface="League Gothic"/>
              </a:rPr>
              <a:t>¿VALDRÍA LA PENA INVERTIR EN SERVICIOS PARA CAPACITAR TENDEROS?</a:t>
            </a:r>
          </a:p>
        </p:txBody>
      </p:sp>
      <p:sp>
        <p:nvSpPr>
          <p:cNvPr name="TextBox 4" id="4"/>
          <p:cNvSpPr txBox="true"/>
          <p:nvPr/>
        </p:nvSpPr>
        <p:spPr>
          <a:xfrm rot="0">
            <a:off x="6511958" y="8937769"/>
            <a:ext cx="5264084" cy="304800"/>
          </a:xfrm>
          <a:prstGeom prst="rect">
            <a:avLst/>
          </a:prstGeom>
        </p:spPr>
        <p:txBody>
          <a:bodyPr anchor="t" rtlCol="false" tIns="0" lIns="0" bIns="0" rIns="0">
            <a:spAutoFit/>
          </a:bodyPr>
          <a:lstStyle/>
          <a:p>
            <a:pPr algn="ctr">
              <a:lnSpc>
                <a:spcPts val="2610"/>
              </a:lnSpc>
            </a:pPr>
            <a:r>
              <a:rPr lang="en-US" sz="1800" spc="379">
                <a:solidFill>
                  <a:srgbClr val="F4D314"/>
                </a:solidFill>
                <a:latin typeface="Muli"/>
                <a:ea typeface="Muli"/>
                <a:cs typeface="Muli"/>
                <a:sym typeface="Muli"/>
              </a:rPr>
              <a:t>1 DE SEPTIEMBRE 2025</a:t>
            </a:r>
          </a:p>
        </p:txBody>
      </p:sp>
      <p:sp>
        <p:nvSpPr>
          <p:cNvPr name="TextBox 5" id="5"/>
          <p:cNvSpPr txBox="true"/>
          <p:nvPr/>
        </p:nvSpPr>
        <p:spPr>
          <a:xfrm rot="0">
            <a:off x="4953633" y="5768704"/>
            <a:ext cx="8380734" cy="1936945"/>
          </a:xfrm>
          <a:prstGeom prst="rect">
            <a:avLst/>
          </a:prstGeom>
        </p:spPr>
        <p:txBody>
          <a:bodyPr anchor="t" rtlCol="false" tIns="0" lIns="0" bIns="0" rIns="0">
            <a:spAutoFit/>
          </a:bodyPr>
          <a:lstStyle/>
          <a:p>
            <a:pPr algn="ctr">
              <a:lnSpc>
                <a:spcPts val="5217"/>
              </a:lnSpc>
            </a:pPr>
            <a:r>
              <a:rPr lang="en-US" sz="3598" spc="539">
                <a:solidFill>
                  <a:srgbClr val="F4D314"/>
                </a:solidFill>
                <a:latin typeface="Muli"/>
                <a:ea typeface="Muli"/>
                <a:cs typeface="Muli"/>
                <a:sym typeface="Muli"/>
              </a:rPr>
              <a:t>ISAAC SUAREZ</a:t>
            </a:r>
          </a:p>
          <a:p>
            <a:pPr algn="ctr">
              <a:lnSpc>
                <a:spcPts val="5217"/>
              </a:lnSpc>
            </a:pPr>
            <a:r>
              <a:rPr lang="en-US" sz="3598" spc="539">
                <a:solidFill>
                  <a:srgbClr val="F4D314"/>
                </a:solidFill>
                <a:latin typeface="Muli"/>
                <a:ea typeface="Muli"/>
                <a:cs typeface="Muli"/>
                <a:sym typeface="Muli"/>
              </a:rPr>
              <a:t>JUAN DAVID VARGAS </a:t>
            </a:r>
          </a:p>
          <a:p>
            <a:pPr algn="ctr">
              <a:lnSpc>
                <a:spcPts val="5217"/>
              </a:lnSpc>
            </a:pPr>
            <a:r>
              <a:rPr lang="en-US" sz="3598" spc="539">
                <a:solidFill>
                  <a:srgbClr val="F4D314"/>
                </a:solidFill>
                <a:latin typeface="Muli"/>
                <a:ea typeface="Muli"/>
                <a:cs typeface="Muli"/>
                <a:sym typeface="Muli"/>
              </a:rPr>
              <a:t>NATALIA RODRIGUEZ</a:t>
            </a:r>
          </a:p>
        </p:txBody>
      </p:sp>
      <p:sp>
        <p:nvSpPr>
          <p:cNvPr name="TextBox 6" id="6"/>
          <p:cNvSpPr txBox="true"/>
          <p:nvPr/>
        </p:nvSpPr>
        <p:spPr>
          <a:xfrm rot="0">
            <a:off x="6511958" y="990600"/>
            <a:ext cx="5264084" cy="304800"/>
          </a:xfrm>
          <a:prstGeom prst="rect">
            <a:avLst/>
          </a:prstGeom>
        </p:spPr>
        <p:txBody>
          <a:bodyPr anchor="t" rtlCol="false" tIns="0" lIns="0" bIns="0" rIns="0">
            <a:spAutoFit/>
          </a:bodyPr>
          <a:lstStyle/>
          <a:p>
            <a:pPr algn="ctr">
              <a:lnSpc>
                <a:spcPts val="2610"/>
              </a:lnSpc>
            </a:pPr>
            <a:r>
              <a:rPr lang="en-US" sz="1800" spc="379">
                <a:solidFill>
                  <a:srgbClr val="FFFFFF"/>
                </a:solidFill>
                <a:latin typeface="Muli"/>
                <a:ea typeface="Muli"/>
                <a:cs typeface="Muli"/>
                <a:sym typeface="Muli"/>
              </a:rPr>
              <a:t>PRESENTACIÓN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973634" y="1459931"/>
            <a:ext cx="5985375" cy="1313724"/>
          </a:xfrm>
          <a:prstGeom prst="rect">
            <a:avLst/>
          </a:prstGeom>
        </p:spPr>
        <p:txBody>
          <a:bodyPr anchor="t" rtlCol="false" tIns="0" lIns="0" bIns="0" rIns="0">
            <a:spAutoFit/>
          </a:bodyPr>
          <a:lstStyle/>
          <a:p>
            <a:pPr algn="l">
              <a:lnSpc>
                <a:spcPts val="10218"/>
              </a:lnSpc>
            </a:pPr>
            <a:r>
              <a:rPr lang="en-US" sz="8885">
                <a:solidFill>
                  <a:srgbClr val="FFFFFF"/>
                </a:solidFill>
                <a:latin typeface="League Gothic"/>
                <a:ea typeface="League Gothic"/>
                <a:cs typeface="League Gothic"/>
                <a:sym typeface="League Gothic"/>
              </a:rPr>
              <a:t>MOTIVACIÓN</a:t>
            </a:r>
          </a:p>
        </p:txBody>
      </p:sp>
      <p:sp>
        <p:nvSpPr>
          <p:cNvPr name="TextBox 4" id="4"/>
          <p:cNvSpPr txBox="true"/>
          <p:nvPr/>
        </p:nvSpPr>
        <p:spPr>
          <a:xfrm rot="0">
            <a:off x="1979836" y="3003242"/>
            <a:ext cx="14328327" cy="6255058"/>
          </a:xfrm>
          <a:prstGeom prst="rect">
            <a:avLst/>
          </a:prstGeom>
        </p:spPr>
        <p:txBody>
          <a:bodyPr anchor="t" rtlCol="false" tIns="0" lIns="0" bIns="0" rIns="0">
            <a:spAutoFit/>
          </a:bodyPr>
          <a:lstStyle/>
          <a:p>
            <a:pPr algn="ctr">
              <a:lnSpc>
                <a:spcPts val="7118"/>
              </a:lnSpc>
            </a:pPr>
            <a:r>
              <a:rPr lang="en-US" sz="5475">
                <a:solidFill>
                  <a:srgbClr val="FFFFFF"/>
                </a:solidFill>
                <a:latin typeface="Muli"/>
                <a:ea typeface="Muli"/>
                <a:cs typeface="Muli"/>
                <a:sym typeface="Muli"/>
              </a:rPr>
              <a:t>El uso del internet en rublo de los tenderos es un </a:t>
            </a:r>
            <a:r>
              <a:rPr lang="en-US" b="true" sz="5475">
                <a:solidFill>
                  <a:srgbClr val="F4D314"/>
                </a:solidFill>
                <a:latin typeface="Muli Bold"/>
                <a:ea typeface="Muli Bold"/>
                <a:cs typeface="Muli Bold"/>
                <a:sym typeface="Muli Bold"/>
              </a:rPr>
              <a:t>factor potenciador</a:t>
            </a:r>
            <a:r>
              <a:rPr lang="en-US" sz="5475">
                <a:solidFill>
                  <a:srgbClr val="FFFFFF"/>
                </a:solidFill>
                <a:latin typeface="Muli"/>
                <a:ea typeface="Muli"/>
                <a:cs typeface="Muli"/>
                <a:sym typeface="Muli"/>
              </a:rPr>
              <a:t> en los ingresos, impactando en la productividad, publicidad, facturación, inventario, etc... Es por eso que la capacitación e inclusión en el manejo de internet de los tenderos es vital en la economía local</a:t>
            </a:r>
          </a:p>
        </p:txBody>
      </p:sp>
      <p:sp>
        <p:nvSpPr>
          <p:cNvPr name="TextBox 5" id="5"/>
          <p:cNvSpPr txBox="true"/>
          <p:nvPr/>
        </p:nvSpPr>
        <p:spPr>
          <a:xfrm rot="0">
            <a:off x="11276354" y="1605618"/>
            <a:ext cx="5031810" cy="492125"/>
          </a:xfrm>
          <a:prstGeom prst="rect">
            <a:avLst/>
          </a:prstGeom>
        </p:spPr>
        <p:txBody>
          <a:bodyPr anchor="t" rtlCol="false" tIns="0" lIns="0" bIns="0" rIns="0">
            <a:spAutoFit/>
          </a:bodyPr>
          <a:lstStyle/>
          <a:p>
            <a:pPr algn="r">
              <a:lnSpc>
                <a:spcPts val="4059"/>
              </a:lnSpc>
            </a:pPr>
            <a:r>
              <a:rPr lang="en-US" sz="2799" spc="419" u="sng">
                <a:solidFill>
                  <a:srgbClr val="F4D314"/>
                </a:solidFill>
                <a:latin typeface="Muli"/>
                <a:ea typeface="Muli"/>
                <a:cs typeface="Muli"/>
                <a:sym typeface="Muli"/>
                <a:hlinkClick r:id="rId3" tooltip="https://www.computerweekly.com/es/noticias/366537635/El-gran-impacto-de-internet-en-los-negocios-su-gestion-y-operacion"/>
              </a:rPr>
              <a:t>IMPACTO DE INTERNET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651417" y="1371953"/>
            <a:ext cx="4607640" cy="1383573"/>
          </a:xfrm>
          <a:prstGeom prst="rect">
            <a:avLst/>
          </a:prstGeom>
        </p:spPr>
        <p:txBody>
          <a:bodyPr anchor="t" rtlCol="false" tIns="0" lIns="0" bIns="0" rIns="0">
            <a:spAutoFit/>
          </a:bodyPr>
          <a:lstStyle/>
          <a:p>
            <a:pPr algn="l">
              <a:lnSpc>
                <a:spcPts val="10793"/>
              </a:lnSpc>
            </a:pPr>
            <a:r>
              <a:rPr lang="en-US" sz="9385">
                <a:solidFill>
                  <a:srgbClr val="FFFFFF"/>
                </a:solidFill>
                <a:latin typeface="League Gothic"/>
                <a:ea typeface="League Gothic"/>
                <a:cs typeface="League Gothic"/>
                <a:sym typeface="League Gothic"/>
              </a:rPr>
              <a:t>METODOLOGÍA</a:t>
            </a:r>
          </a:p>
        </p:txBody>
      </p:sp>
      <p:sp>
        <p:nvSpPr>
          <p:cNvPr name="TextBox 4" id="4"/>
          <p:cNvSpPr txBox="true"/>
          <p:nvPr/>
        </p:nvSpPr>
        <p:spPr>
          <a:xfrm rot="0">
            <a:off x="2651417" y="3517113"/>
            <a:ext cx="13225058" cy="4311611"/>
          </a:xfrm>
          <a:prstGeom prst="rect">
            <a:avLst/>
          </a:prstGeom>
        </p:spPr>
        <p:txBody>
          <a:bodyPr anchor="t" rtlCol="false" tIns="0" lIns="0" bIns="0" rIns="0">
            <a:spAutoFit/>
          </a:bodyPr>
          <a:lstStyle/>
          <a:p>
            <a:pPr algn="ctr">
              <a:lnSpc>
                <a:spcPts val="4902"/>
              </a:lnSpc>
            </a:pPr>
            <a:r>
              <a:rPr lang="en-US" sz="3501">
                <a:solidFill>
                  <a:srgbClr val="FFFFFF"/>
                </a:solidFill>
                <a:latin typeface="Muli"/>
                <a:ea typeface="Muli"/>
                <a:cs typeface="Muli"/>
                <a:sym typeface="Muli"/>
              </a:rPr>
              <a:t>Se tuvo en cuenta la encuesta de tenderos, en la cual se preguntaba sobre el uso del internet y el propósito del mismo dividido en 9 sectores (salud, peluquería, comida, etc...) además, se unió con la población (terridata) de las ciudades donde se encontraban estos negocios para observar y analizar las necesidades de estos sectores para tomar una decisión de impacto </a:t>
            </a:r>
          </a:p>
        </p:txBody>
      </p:sp>
      <p:sp>
        <p:nvSpPr>
          <p:cNvPr name="TextBox 5" id="5"/>
          <p:cNvSpPr txBox="true"/>
          <p:nvPr/>
        </p:nvSpPr>
        <p:spPr>
          <a:xfrm rot="0">
            <a:off x="13385820" y="1765290"/>
            <a:ext cx="2490654" cy="492125"/>
          </a:xfrm>
          <a:prstGeom prst="rect">
            <a:avLst/>
          </a:prstGeom>
        </p:spPr>
        <p:txBody>
          <a:bodyPr anchor="t" rtlCol="false" tIns="0" lIns="0" bIns="0" rIns="0">
            <a:spAutoFit/>
          </a:bodyPr>
          <a:lstStyle/>
          <a:p>
            <a:pPr algn="r">
              <a:lnSpc>
                <a:spcPts val="4059"/>
              </a:lnSpc>
            </a:pPr>
            <a:r>
              <a:rPr lang="en-US" sz="2799" spc="419" u="sng">
                <a:solidFill>
                  <a:srgbClr val="F4D314"/>
                </a:solidFill>
                <a:latin typeface="Muli"/>
                <a:ea typeface="Muli"/>
                <a:cs typeface="Muli"/>
                <a:sym typeface="Muli"/>
                <a:hlinkClick r:id="rId3" tooltip="https://terridata.dnp.gov.co/index-app.html#/descargas"/>
              </a:rPr>
              <a:t>TERRIDATA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1958325" y="2793013"/>
            <a:ext cx="7662562" cy="6465287"/>
          </a:xfrm>
          <a:custGeom>
            <a:avLst/>
            <a:gdLst/>
            <a:ahLst/>
            <a:cxnLst/>
            <a:rect r="r" b="b" t="t" l="l"/>
            <a:pathLst>
              <a:path h="6465287" w="7662562">
                <a:moveTo>
                  <a:pt x="0" y="0"/>
                </a:moveTo>
                <a:lnTo>
                  <a:pt x="7662563" y="0"/>
                </a:lnTo>
                <a:lnTo>
                  <a:pt x="7662563" y="6465287"/>
                </a:lnTo>
                <a:lnTo>
                  <a:pt x="0" y="6465287"/>
                </a:lnTo>
                <a:lnTo>
                  <a:pt x="0" y="0"/>
                </a:lnTo>
                <a:close/>
              </a:path>
            </a:pathLst>
          </a:custGeom>
          <a:blipFill>
            <a:blip r:embed="rId3"/>
            <a:stretch>
              <a:fillRect l="0" t="0" r="0" b="0"/>
            </a:stretch>
          </a:blipFill>
        </p:spPr>
      </p:sp>
      <p:sp>
        <p:nvSpPr>
          <p:cNvPr name="Freeform 4" id="4"/>
          <p:cNvSpPr/>
          <p:nvPr/>
        </p:nvSpPr>
        <p:spPr>
          <a:xfrm flipH="false" flipV="false" rot="0">
            <a:off x="9830822" y="2793013"/>
            <a:ext cx="6992845" cy="6465287"/>
          </a:xfrm>
          <a:custGeom>
            <a:avLst/>
            <a:gdLst/>
            <a:ahLst/>
            <a:cxnLst/>
            <a:rect r="r" b="b" t="t" l="l"/>
            <a:pathLst>
              <a:path h="6465287" w="6992845">
                <a:moveTo>
                  <a:pt x="0" y="0"/>
                </a:moveTo>
                <a:lnTo>
                  <a:pt x="6992845" y="0"/>
                </a:lnTo>
                <a:lnTo>
                  <a:pt x="6992845" y="6465287"/>
                </a:lnTo>
                <a:lnTo>
                  <a:pt x="0" y="6465287"/>
                </a:lnTo>
                <a:lnTo>
                  <a:pt x="0" y="0"/>
                </a:lnTo>
                <a:close/>
              </a:path>
            </a:pathLst>
          </a:custGeom>
          <a:blipFill>
            <a:blip r:embed="rId4"/>
            <a:stretch>
              <a:fillRect l="0" t="0" r="-464" b="0"/>
            </a:stretch>
          </a:blipFill>
        </p:spPr>
      </p:sp>
      <p:sp>
        <p:nvSpPr>
          <p:cNvPr name="TextBox 5" id="5"/>
          <p:cNvSpPr txBox="true"/>
          <p:nvPr/>
        </p:nvSpPr>
        <p:spPr>
          <a:xfrm rot="0">
            <a:off x="1958325" y="1233917"/>
            <a:ext cx="5985375" cy="1274354"/>
          </a:xfrm>
          <a:prstGeom prst="rect">
            <a:avLst/>
          </a:prstGeom>
        </p:spPr>
        <p:txBody>
          <a:bodyPr anchor="t" rtlCol="false" tIns="0" lIns="0" bIns="0" rIns="0">
            <a:spAutoFit/>
          </a:bodyPr>
          <a:lstStyle/>
          <a:p>
            <a:pPr algn="l">
              <a:lnSpc>
                <a:spcPts val="9988"/>
              </a:lnSpc>
            </a:pPr>
            <a:r>
              <a:rPr lang="en-US" sz="8685">
                <a:solidFill>
                  <a:srgbClr val="FFFFFF"/>
                </a:solidFill>
                <a:latin typeface="League Gothic"/>
                <a:ea typeface="League Gothic"/>
                <a:cs typeface="League Gothic"/>
                <a:sym typeface="League Gothic"/>
              </a:rPr>
              <a:t>VISUALIZACIÓN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1330690" y="2211615"/>
            <a:ext cx="5844264" cy="5091815"/>
          </a:xfrm>
          <a:custGeom>
            <a:avLst/>
            <a:gdLst/>
            <a:ahLst/>
            <a:cxnLst/>
            <a:rect r="r" b="b" t="t" l="l"/>
            <a:pathLst>
              <a:path h="5091815" w="5844264">
                <a:moveTo>
                  <a:pt x="0" y="0"/>
                </a:moveTo>
                <a:lnTo>
                  <a:pt x="5844265" y="0"/>
                </a:lnTo>
                <a:lnTo>
                  <a:pt x="5844265" y="5091816"/>
                </a:lnTo>
                <a:lnTo>
                  <a:pt x="0" y="5091816"/>
                </a:lnTo>
                <a:lnTo>
                  <a:pt x="0" y="0"/>
                </a:lnTo>
                <a:close/>
              </a:path>
            </a:pathLst>
          </a:custGeom>
          <a:blipFill>
            <a:blip r:embed="rId3"/>
            <a:stretch>
              <a:fillRect l="0" t="0" r="0" b="0"/>
            </a:stretch>
          </a:blipFill>
        </p:spPr>
      </p:sp>
      <p:sp>
        <p:nvSpPr>
          <p:cNvPr name="Freeform 4" id="4"/>
          <p:cNvSpPr/>
          <p:nvPr/>
        </p:nvSpPr>
        <p:spPr>
          <a:xfrm flipH="false" flipV="false" rot="0">
            <a:off x="1330690" y="7596637"/>
            <a:ext cx="8542179" cy="1661663"/>
          </a:xfrm>
          <a:custGeom>
            <a:avLst/>
            <a:gdLst/>
            <a:ahLst/>
            <a:cxnLst/>
            <a:rect r="r" b="b" t="t" l="l"/>
            <a:pathLst>
              <a:path h="1661663" w="8542179">
                <a:moveTo>
                  <a:pt x="0" y="0"/>
                </a:moveTo>
                <a:lnTo>
                  <a:pt x="8542179" y="0"/>
                </a:lnTo>
                <a:lnTo>
                  <a:pt x="8542179" y="1661663"/>
                </a:lnTo>
                <a:lnTo>
                  <a:pt x="0" y="1661663"/>
                </a:lnTo>
                <a:lnTo>
                  <a:pt x="0" y="0"/>
                </a:lnTo>
                <a:close/>
              </a:path>
            </a:pathLst>
          </a:custGeom>
          <a:blipFill>
            <a:blip r:embed="rId4"/>
            <a:stretch>
              <a:fillRect l="0" t="0" r="0" b="0"/>
            </a:stretch>
          </a:blipFill>
        </p:spPr>
      </p:sp>
      <p:sp>
        <p:nvSpPr>
          <p:cNvPr name="TextBox 5" id="5"/>
          <p:cNvSpPr txBox="true"/>
          <p:nvPr/>
        </p:nvSpPr>
        <p:spPr>
          <a:xfrm rot="0">
            <a:off x="1330690" y="950118"/>
            <a:ext cx="10164505" cy="1154340"/>
          </a:xfrm>
          <a:prstGeom prst="rect">
            <a:avLst/>
          </a:prstGeom>
        </p:spPr>
        <p:txBody>
          <a:bodyPr anchor="t" rtlCol="false" tIns="0" lIns="0" bIns="0" rIns="0">
            <a:spAutoFit/>
          </a:bodyPr>
          <a:lstStyle/>
          <a:p>
            <a:pPr algn="l">
              <a:lnSpc>
                <a:spcPts val="8953"/>
              </a:lnSpc>
            </a:pPr>
            <a:r>
              <a:rPr lang="en-US" sz="7785">
                <a:solidFill>
                  <a:srgbClr val="FFFFFF"/>
                </a:solidFill>
                <a:latin typeface="League Gothic"/>
                <a:ea typeface="League Gothic"/>
                <a:cs typeface="League Gothic"/>
                <a:sym typeface="League Gothic"/>
              </a:rPr>
              <a:t>RECOMENDACIONES : GIRARDOT</a:t>
            </a:r>
          </a:p>
        </p:txBody>
      </p:sp>
      <p:sp>
        <p:nvSpPr>
          <p:cNvPr name="TextBox 6" id="6"/>
          <p:cNvSpPr txBox="true"/>
          <p:nvPr/>
        </p:nvSpPr>
        <p:spPr>
          <a:xfrm rot="0">
            <a:off x="8058437" y="2563851"/>
            <a:ext cx="9093706" cy="4506719"/>
          </a:xfrm>
          <a:prstGeom prst="rect">
            <a:avLst/>
          </a:prstGeom>
        </p:spPr>
        <p:txBody>
          <a:bodyPr anchor="t" rtlCol="false" tIns="0" lIns="0" bIns="0" rIns="0">
            <a:spAutoFit/>
          </a:bodyPr>
          <a:lstStyle/>
          <a:p>
            <a:pPr algn="ctr">
              <a:lnSpc>
                <a:spcPts val="5173"/>
              </a:lnSpc>
            </a:pPr>
            <a:r>
              <a:rPr lang="en-US" sz="3695">
                <a:solidFill>
                  <a:srgbClr val="FFFFFF"/>
                </a:solidFill>
                <a:latin typeface="Muli"/>
                <a:ea typeface="Muli"/>
                <a:cs typeface="Muli"/>
                <a:sym typeface="Muli"/>
              </a:rPr>
              <a:t>En el mercado de Girardot solo </a:t>
            </a:r>
            <a:r>
              <a:rPr lang="en-US" b="true" sz="3695">
                <a:solidFill>
                  <a:srgbClr val="F4D314"/>
                </a:solidFill>
                <a:latin typeface="Muli Bold"/>
                <a:ea typeface="Muli Bold"/>
                <a:cs typeface="Muli Bold"/>
                <a:sym typeface="Muli Bold"/>
              </a:rPr>
              <a:t>1 de cada 3</a:t>
            </a:r>
            <a:r>
              <a:rPr lang="en-US" sz="3695">
                <a:solidFill>
                  <a:srgbClr val="FFFFFF"/>
                </a:solidFill>
                <a:latin typeface="Muli"/>
                <a:ea typeface="Muli"/>
                <a:cs typeface="Muli"/>
                <a:sym typeface="Muli"/>
              </a:rPr>
              <a:t> negocios tiene internet, es por eso que hay un gran espacio para cubrir en capacitaciones para el restante de los tenderos. Se recomienda capacitación enfocada a inventario, papelería y peluquería.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1330690" y="2104458"/>
            <a:ext cx="5553202" cy="4796578"/>
          </a:xfrm>
          <a:custGeom>
            <a:avLst/>
            <a:gdLst/>
            <a:ahLst/>
            <a:cxnLst/>
            <a:rect r="r" b="b" t="t" l="l"/>
            <a:pathLst>
              <a:path h="4796578" w="5553202">
                <a:moveTo>
                  <a:pt x="0" y="0"/>
                </a:moveTo>
                <a:lnTo>
                  <a:pt x="5553202" y="0"/>
                </a:lnTo>
                <a:lnTo>
                  <a:pt x="5553202" y="4796578"/>
                </a:lnTo>
                <a:lnTo>
                  <a:pt x="0" y="4796578"/>
                </a:lnTo>
                <a:lnTo>
                  <a:pt x="0" y="0"/>
                </a:lnTo>
                <a:close/>
              </a:path>
            </a:pathLst>
          </a:custGeom>
          <a:blipFill>
            <a:blip r:embed="rId3"/>
            <a:stretch>
              <a:fillRect l="0" t="0" r="0" b="0"/>
            </a:stretch>
          </a:blipFill>
        </p:spPr>
      </p:sp>
      <p:sp>
        <p:nvSpPr>
          <p:cNvPr name="Freeform 4" id="4"/>
          <p:cNvSpPr/>
          <p:nvPr/>
        </p:nvSpPr>
        <p:spPr>
          <a:xfrm flipH="false" flipV="false" rot="0">
            <a:off x="1330690" y="7070569"/>
            <a:ext cx="7450413" cy="2900161"/>
          </a:xfrm>
          <a:custGeom>
            <a:avLst/>
            <a:gdLst/>
            <a:ahLst/>
            <a:cxnLst/>
            <a:rect r="r" b="b" t="t" l="l"/>
            <a:pathLst>
              <a:path h="2900161" w="7450413">
                <a:moveTo>
                  <a:pt x="0" y="0"/>
                </a:moveTo>
                <a:lnTo>
                  <a:pt x="7450413" y="0"/>
                </a:lnTo>
                <a:lnTo>
                  <a:pt x="7450413" y="2900161"/>
                </a:lnTo>
                <a:lnTo>
                  <a:pt x="0" y="2900161"/>
                </a:lnTo>
                <a:lnTo>
                  <a:pt x="0" y="0"/>
                </a:lnTo>
                <a:close/>
              </a:path>
            </a:pathLst>
          </a:custGeom>
          <a:blipFill>
            <a:blip r:embed="rId4"/>
            <a:stretch>
              <a:fillRect l="0" t="0" r="0" b="0"/>
            </a:stretch>
          </a:blipFill>
        </p:spPr>
      </p:sp>
      <p:sp>
        <p:nvSpPr>
          <p:cNvPr name="TextBox 5" id="5"/>
          <p:cNvSpPr txBox="true"/>
          <p:nvPr/>
        </p:nvSpPr>
        <p:spPr>
          <a:xfrm rot="0">
            <a:off x="1330690" y="950118"/>
            <a:ext cx="10164505" cy="1154340"/>
          </a:xfrm>
          <a:prstGeom prst="rect">
            <a:avLst/>
          </a:prstGeom>
        </p:spPr>
        <p:txBody>
          <a:bodyPr anchor="t" rtlCol="false" tIns="0" lIns="0" bIns="0" rIns="0">
            <a:spAutoFit/>
          </a:bodyPr>
          <a:lstStyle/>
          <a:p>
            <a:pPr algn="l">
              <a:lnSpc>
                <a:spcPts val="8953"/>
              </a:lnSpc>
            </a:pPr>
            <a:r>
              <a:rPr lang="en-US" sz="7785">
                <a:solidFill>
                  <a:srgbClr val="FFFFFF"/>
                </a:solidFill>
                <a:latin typeface="League Gothic"/>
                <a:ea typeface="League Gothic"/>
                <a:cs typeface="League Gothic"/>
                <a:sym typeface="League Gothic"/>
              </a:rPr>
              <a:t>RECOMENDACIONES : NEIVA</a:t>
            </a:r>
          </a:p>
        </p:txBody>
      </p:sp>
      <p:sp>
        <p:nvSpPr>
          <p:cNvPr name="TextBox 6" id="6"/>
          <p:cNvSpPr txBox="true"/>
          <p:nvPr/>
        </p:nvSpPr>
        <p:spPr>
          <a:xfrm rot="0">
            <a:off x="8257443" y="2532953"/>
            <a:ext cx="9093706" cy="5154419"/>
          </a:xfrm>
          <a:prstGeom prst="rect">
            <a:avLst/>
          </a:prstGeom>
        </p:spPr>
        <p:txBody>
          <a:bodyPr anchor="t" rtlCol="false" tIns="0" lIns="0" bIns="0" rIns="0">
            <a:spAutoFit/>
          </a:bodyPr>
          <a:lstStyle/>
          <a:p>
            <a:pPr algn="ctr">
              <a:lnSpc>
                <a:spcPts val="5173"/>
              </a:lnSpc>
            </a:pPr>
            <a:r>
              <a:rPr lang="en-US" sz="3695">
                <a:solidFill>
                  <a:srgbClr val="FFFFFF"/>
                </a:solidFill>
                <a:latin typeface="Muli"/>
                <a:ea typeface="Muli"/>
                <a:cs typeface="Muli"/>
                <a:sym typeface="Muli"/>
              </a:rPr>
              <a:t>En el mercado de Neiva </a:t>
            </a:r>
            <a:r>
              <a:rPr lang="en-US" b="true" sz="3695">
                <a:solidFill>
                  <a:srgbClr val="F4D314"/>
                </a:solidFill>
                <a:latin typeface="Muli Bold"/>
                <a:ea typeface="Muli Bold"/>
                <a:cs typeface="Muli Bold"/>
                <a:sym typeface="Muli Bold"/>
              </a:rPr>
              <a:t>menos de una tercera parte</a:t>
            </a:r>
            <a:r>
              <a:rPr lang="en-US" sz="3695">
                <a:solidFill>
                  <a:srgbClr val="FFFFFF"/>
                </a:solidFill>
                <a:latin typeface="Muli"/>
                <a:ea typeface="Muli"/>
                <a:cs typeface="Muli"/>
                <a:sym typeface="Muli"/>
              </a:rPr>
              <a:t> de las tiendas usan internet, haciendo que las inversiones en capacitación tengan gran impacto debido al número de negocios sin cobertura. Se recomienda capacitar con enfoque en salud, peluquería, papelería, vida nocturna y ropa.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543309" y="3716314"/>
            <a:ext cx="8799698" cy="3502072"/>
          </a:xfrm>
          <a:custGeom>
            <a:avLst/>
            <a:gdLst/>
            <a:ahLst/>
            <a:cxnLst/>
            <a:rect r="r" b="b" t="t" l="l"/>
            <a:pathLst>
              <a:path h="3502072" w="8799698">
                <a:moveTo>
                  <a:pt x="0" y="0"/>
                </a:moveTo>
                <a:lnTo>
                  <a:pt x="8799697" y="0"/>
                </a:lnTo>
                <a:lnTo>
                  <a:pt x="8799697" y="3502072"/>
                </a:lnTo>
                <a:lnTo>
                  <a:pt x="0" y="3502072"/>
                </a:lnTo>
                <a:lnTo>
                  <a:pt x="0" y="0"/>
                </a:lnTo>
                <a:close/>
              </a:path>
            </a:pathLst>
          </a:custGeom>
          <a:blipFill>
            <a:blip r:embed="rId3"/>
            <a:stretch>
              <a:fillRect l="0" t="0" r="0" b="0"/>
            </a:stretch>
          </a:blipFill>
        </p:spPr>
      </p:sp>
      <p:sp>
        <p:nvSpPr>
          <p:cNvPr name="TextBox 4" id="4"/>
          <p:cNvSpPr txBox="true"/>
          <p:nvPr/>
        </p:nvSpPr>
        <p:spPr>
          <a:xfrm rot="0">
            <a:off x="1330690" y="950118"/>
            <a:ext cx="12193090" cy="1154340"/>
          </a:xfrm>
          <a:prstGeom prst="rect">
            <a:avLst/>
          </a:prstGeom>
        </p:spPr>
        <p:txBody>
          <a:bodyPr anchor="t" rtlCol="false" tIns="0" lIns="0" bIns="0" rIns="0">
            <a:spAutoFit/>
          </a:bodyPr>
          <a:lstStyle/>
          <a:p>
            <a:pPr algn="l">
              <a:lnSpc>
                <a:spcPts val="8953"/>
              </a:lnSpc>
            </a:pPr>
            <a:r>
              <a:rPr lang="en-US" sz="7785">
                <a:solidFill>
                  <a:srgbClr val="FFFFFF"/>
                </a:solidFill>
                <a:latin typeface="League Gothic"/>
                <a:ea typeface="League Gothic"/>
                <a:cs typeface="League Gothic"/>
                <a:sym typeface="League Gothic"/>
              </a:rPr>
              <a:t>NO RECOMENDACIONES : BOGOTÁ Y ZIPAQUIRÁ</a:t>
            </a:r>
          </a:p>
        </p:txBody>
      </p:sp>
      <p:sp>
        <p:nvSpPr>
          <p:cNvPr name="TextBox 5" id="5"/>
          <p:cNvSpPr txBox="true"/>
          <p:nvPr/>
        </p:nvSpPr>
        <p:spPr>
          <a:xfrm rot="0">
            <a:off x="9696411" y="2532953"/>
            <a:ext cx="7654738" cy="5802119"/>
          </a:xfrm>
          <a:prstGeom prst="rect">
            <a:avLst/>
          </a:prstGeom>
        </p:spPr>
        <p:txBody>
          <a:bodyPr anchor="t" rtlCol="false" tIns="0" lIns="0" bIns="0" rIns="0">
            <a:spAutoFit/>
          </a:bodyPr>
          <a:lstStyle/>
          <a:p>
            <a:pPr algn="ctr">
              <a:lnSpc>
                <a:spcPts val="5173"/>
              </a:lnSpc>
            </a:pPr>
            <a:r>
              <a:rPr lang="en-US" sz="3695">
                <a:solidFill>
                  <a:srgbClr val="FFFFFF"/>
                </a:solidFill>
                <a:latin typeface="Muli"/>
                <a:ea typeface="Muli"/>
                <a:cs typeface="Muli"/>
                <a:sym typeface="Muli"/>
              </a:rPr>
              <a:t>En estos mercados gran parte de la población ya cuenta con gran cobertura de internet en las tiendas. Por ello la inversión en capacitación </a:t>
            </a:r>
            <a:r>
              <a:rPr lang="en-US" b="true" sz="3695">
                <a:solidFill>
                  <a:srgbClr val="F4D314"/>
                </a:solidFill>
                <a:latin typeface="Muli Bold"/>
                <a:ea typeface="Muli Bold"/>
                <a:cs typeface="Muli Bold"/>
                <a:sym typeface="Muli Bold"/>
              </a:rPr>
              <a:t>no tendría un impacto</a:t>
            </a:r>
            <a:r>
              <a:rPr lang="en-US" sz="3695">
                <a:solidFill>
                  <a:srgbClr val="FFFFFF"/>
                </a:solidFill>
                <a:latin typeface="Muli"/>
                <a:ea typeface="Muli"/>
                <a:cs typeface="Muli"/>
                <a:sym typeface="Muli"/>
              </a:rPr>
              <a:t>, ya que se puede deducir que los negocios sin internet no pueden implementarlo por diferentes motivos.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2314586" y="4273591"/>
            <a:ext cx="13658828" cy="2757668"/>
          </a:xfrm>
          <a:prstGeom prst="rect">
            <a:avLst/>
          </a:prstGeom>
        </p:spPr>
        <p:txBody>
          <a:bodyPr anchor="t" rtlCol="false" tIns="0" lIns="0" bIns="0" rIns="0">
            <a:spAutoFit/>
          </a:bodyPr>
          <a:lstStyle/>
          <a:p>
            <a:pPr algn="ctr">
              <a:lnSpc>
                <a:spcPts val="21482"/>
              </a:lnSpc>
            </a:pPr>
            <a:r>
              <a:rPr lang="en-US" sz="18680">
                <a:solidFill>
                  <a:srgbClr val="FFFFFF"/>
                </a:solidFill>
                <a:latin typeface="League Gothic"/>
                <a:ea typeface="League Gothic"/>
                <a:cs typeface="League Gothic"/>
                <a:sym typeface="League Gothic"/>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DAGxw43lYxo</dc:identifier>
  <dcterms:modified xsi:type="dcterms:W3CDTF">2011-08-01T06:04:30Z</dcterms:modified>
  <cp:revision>1</cp:revision>
  <dc:title>Presentacion</dc:title>
</cp:coreProperties>
</file>